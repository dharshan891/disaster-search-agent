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2" r:id="rId5"/>
    <p:sldId id="259" r:id="rId6"/>
    <p:sldId id="260" r:id="rId7"/>
    <p:sldId id="261"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4/9/2026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4/9/2026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4/9/2026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4/9/2026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4/9/2026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4/9/2026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4/9/2026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4/9/2026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4/9/2026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DD9E2-385C-7DC7-63E2-05C197FC620C}"/>
              </a:ext>
            </a:extLst>
          </p:cNvPr>
          <p:cNvSpPr>
            <a:spLocks noGrp="1"/>
          </p:cNvSpPr>
          <p:nvPr>
            <p:ph type="ctrTitle"/>
          </p:nvPr>
        </p:nvSpPr>
        <p:spPr>
          <a:xfrm>
            <a:off x="1757810" y="2020518"/>
            <a:ext cx="8361229" cy="681364"/>
          </a:xfrm>
        </p:spPr>
        <p:txBody>
          <a:bodyPr/>
          <a:lstStyle/>
          <a:p>
            <a:r>
              <a:rPr lang="en-IN" sz="4000" b="1" dirty="0">
                <a:latin typeface="Times New Roman" panose="02020603050405020304" pitchFamily="18" charset="0"/>
                <a:cs typeface="Times New Roman" panose="02020603050405020304" pitchFamily="18" charset="0"/>
              </a:rPr>
              <a:t>Disaster Search AGENT</a:t>
            </a:r>
          </a:p>
        </p:txBody>
      </p:sp>
      <p:sp>
        <p:nvSpPr>
          <p:cNvPr id="3" name="Subtitle 2">
            <a:extLst>
              <a:ext uri="{FF2B5EF4-FFF2-40B4-BE49-F238E27FC236}">
                <a16:creationId xmlns:a16="http://schemas.microsoft.com/office/drawing/2014/main" id="{914152BF-82C9-E91A-5C7B-1819805E3BBF}"/>
              </a:ext>
            </a:extLst>
          </p:cNvPr>
          <p:cNvSpPr>
            <a:spLocks noGrp="1"/>
          </p:cNvSpPr>
          <p:nvPr>
            <p:ph type="subTitle" idx="1"/>
          </p:nvPr>
        </p:nvSpPr>
        <p:spPr>
          <a:xfrm>
            <a:off x="6213729" y="3975943"/>
            <a:ext cx="4585876" cy="1086237"/>
          </a:xfrm>
        </p:spPr>
        <p:txBody>
          <a:bodyPr>
            <a:normAutofit fontScale="92500" lnSpcReduction="10000"/>
          </a:bodyPr>
          <a:lstStyle/>
          <a:p>
            <a:r>
              <a:rPr lang="en-IN" dirty="0"/>
              <a:t>Submitted By:</a:t>
            </a:r>
          </a:p>
          <a:p>
            <a:r>
              <a:rPr lang="en-IN" dirty="0"/>
              <a:t>T C Dharshan – 2023006380</a:t>
            </a:r>
          </a:p>
          <a:p>
            <a:r>
              <a:rPr lang="en-IN" dirty="0"/>
              <a:t>Sameer - 2023004759</a:t>
            </a:r>
          </a:p>
        </p:txBody>
      </p:sp>
      <p:sp>
        <p:nvSpPr>
          <p:cNvPr id="4" name="TextBox 3">
            <a:extLst>
              <a:ext uri="{FF2B5EF4-FFF2-40B4-BE49-F238E27FC236}">
                <a16:creationId xmlns:a16="http://schemas.microsoft.com/office/drawing/2014/main" id="{2EAB189F-A5AA-E88A-746F-2721044AC158}"/>
              </a:ext>
            </a:extLst>
          </p:cNvPr>
          <p:cNvSpPr txBox="1"/>
          <p:nvPr/>
        </p:nvSpPr>
        <p:spPr>
          <a:xfrm>
            <a:off x="4768387" y="2815692"/>
            <a:ext cx="2890684"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MINI PROJECT </a:t>
            </a:r>
          </a:p>
        </p:txBody>
      </p:sp>
    </p:spTree>
    <p:extLst>
      <p:ext uri="{BB962C8B-B14F-4D97-AF65-F5344CB8AC3E}">
        <p14:creationId xmlns:p14="http://schemas.microsoft.com/office/powerpoint/2010/main" val="3142510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47D47-9FE1-3212-9B56-E973F91828EB}"/>
              </a:ext>
            </a:extLst>
          </p:cNvPr>
          <p:cNvSpPr>
            <a:spLocks noGrp="1"/>
          </p:cNvSpPr>
          <p:nvPr>
            <p:ph type="title"/>
          </p:nvPr>
        </p:nvSpPr>
        <p:spPr>
          <a:xfrm>
            <a:off x="1219200" y="639097"/>
            <a:ext cx="4960374" cy="639096"/>
          </a:xfrm>
        </p:spPr>
        <p:txBody>
          <a:bodyPr>
            <a:normAutofit/>
          </a:bodyPr>
          <a:lstStyle/>
          <a:p>
            <a:r>
              <a:rPr lang="en-IN" sz="3200" b="1" dirty="0">
                <a:latin typeface="Times New Roman" panose="02020603050405020304" pitchFamily="18" charset="0"/>
                <a:cs typeface="Times New Roman" panose="02020603050405020304" pitchFamily="18" charset="0"/>
              </a:rPr>
              <a:t>Problem Statement </a:t>
            </a:r>
          </a:p>
        </p:txBody>
      </p:sp>
      <p:sp>
        <p:nvSpPr>
          <p:cNvPr id="3" name="TextBox 2">
            <a:extLst>
              <a:ext uri="{FF2B5EF4-FFF2-40B4-BE49-F238E27FC236}">
                <a16:creationId xmlns:a16="http://schemas.microsoft.com/office/drawing/2014/main" id="{B3BF3549-7762-AC38-69C6-2E37E4CA5D12}"/>
              </a:ext>
            </a:extLst>
          </p:cNvPr>
          <p:cNvSpPr txBox="1"/>
          <p:nvPr/>
        </p:nvSpPr>
        <p:spPr>
          <a:xfrm>
            <a:off x="1219200" y="1700980"/>
            <a:ext cx="10323871" cy="344709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Natural disasters such as floods, earthquakes, and fires cause severe damage to life and property, making rescue operations highly challenging. One of the major difficulties faced during such situations is the quick identification and location of survivors in complex and hazardous environments. Traditional search and rescue methods rely heavily on manual efforts, which are time-consuming, risky, and often inefficient in large-scale disaster scenarios.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Therefore, there is a need for an intelligent and automated system that can assist rescue teams by quickly analyzing disaster scenes and identifying survivors. An AI-based Disaster Search Agent can help detect human presence and understand the disaster context from images, enabling faster decision-making and improving the overall efficiency and effectiveness of rescue operations.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0261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68A867-93DF-EEE4-EFB9-6EA1BEF640FD}"/>
              </a:ext>
            </a:extLst>
          </p:cNvPr>
          <p:cNvSpPr txBox="1"/>
          <p:nvPr/>
        </p:nvSpPr>
        <p:spPr>
          <a:xfrm>
            <a:off x="1140542" y="442452"/>
            <a:ext cx="6027174"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Objectives</a:t>
            </a:r>
            <a:r>
              <a:rPr lang="en-IN" dirty="0">
                <a:latin typeface="Times New Roman" panose="02020603050405020304" pitchFamily="18" charset="0"/>
                <a:cs typeface="Times New Roman" panose="02020603050405020304" pitchFamily="18" charset="0"/>
              </a:rPr>
              <a:t> </a:t>
            </a:r>
          </a:p>
        </p:txBody>
      </p:sp>
      <p:sp>
        <p:nvSpPr>
          <p:cNvPr id="3" name="TextBox 2">
            <a:extLst>
              <a:ext uri="{FF2B5EF4-FFF2-40B4-BE49-F238E27FC236}">
                <a16:creationId xmlns:a16="http://schemas.microsoft.com/office/drawing/2014/main" id="{DB271A66-B909-D072-D976-D0663B1E0CEF}"/>
              </a:ext>
            </a:extLst>
          </p:cNvPr>
          <p:cNvSpPr txBox="1"/>
          <p:nvPr/>
        </p:nvSpPr>
        <p:spPr>
          <a:xfrm>
            <a:off x="1140542" y="1278194"/>
            <a:ext cx="9183329" cy="2776914"/>
          </a:xfrm>
          <a:prstGeom prst="rect">
            <a:avLst/>
          </a:prstGeom>
          <a:noFill/>
        </p:spPr>
        <p:txBody>
          <a:bodyPr wrap="square" rtlCol="0">
            <a:spAutoFit/>
          </a:bodyPr>
          <a:lstStyle/>
          <a:p>
            <a:pPr marL="285750" indent="-285750">
              <a:lnSpc>
                <a:spcPct val="20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Detect survivors in disaster images</a:t>
            </a:r>
          </a:p>
          <a:p>
            <a:pPr marL="285750" indent="-285750">
              <a:lnSpc>
                <a:spcPct val="20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Identify disaster type (flood, fire, etc.)</a:t>
            </a:r>
          </a:p>
          <a:p>
            <a:pPr marL="285750" indent="-285750">
              <a:lnSpc>
                <a:spcPct val="20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Use YOLO for accurate object detection</a:t>
            </a:r>
          </a:p>
          <a:p>
            <a:pPr marL="285750" indent="-285750">
              <a:lnSpc>
                <a:spcPct val="20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Provide visual and numerical output</a:t>
            </a:r>
          </a:p>
          <a:p>
            <a:pPr marL="285750" indent="-285750">
              <a:lnSpc>
                <a:spcPct val="20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Assist rescue teams with faster decision-making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2180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002518-8758-5F26-DB3A-097EE33F3AD0}"/>
              </a:ext>
            </a:extLst>
          </p:cNvPr>
          <p:cNvSpPr txBox="1"/>
          <p:nvPr/>
        </p:nvSpPr>
        <p:spPr>
          <a:xfrm>
            <a:off x="1061884" y="422787"/>
            <a:ext cx="7462684"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Algorithms, Techniques and Tools </a:t>
            </a:r>
          </a:p>
        </p:txBody>
      </p:sp>
      <p:sp>
        <p:nvSpPr>
          <p:cNvPr id="3" name="TextBox 2">
            <a:extLst>
              <a:ext uri="{FF2B5EF4-FFF2-40B4-BE49-F238E27FC236}">
                <a16:creationId xmlns:a16="http://schemas.microsoft.com/office/drawing/2014/main" id="{3A1E0657-4430-9B16-5730-5BEC31E2BB42}"/>
              </a:ext>
            </a:extLst>
          </p:cNvPr>
          <p:cNvSpPr txBox="1"/>
          <p:nvPr/>
        </p:nvSpPr>
        <p:spPr>
          <a:xfrm>
            <a:off x="1130710" y="1474838"/>
            <a:ext cx="9291484" cy="3693319"/>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Algorithm: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YOLO (You Only Look Once) is used for real-time object detection. It identifies objects such as people (survivors), boats, and other elements in disaster images with high speed and accuracy.</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Techniques: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system uses Computer Vision and Deep Learning techniques for image analysis and object detection. It also applies object-based reasoning to determine the type of disaster based on detected objects.</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Tools: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Python is used as the programming language. YOLOv8 (</a:t>
            </a:r>
            <a:r>
              <a:rPr lang="en-US" dirty="0" err="1">
                <a:latin typeface="Times New Roman" panose="02020603050405020304" pitchFamily="18" charset="0"/>
                <a:cs typeface="Times New Roman" panose="02020603050405020304" pitchFamily="18" charset="0"/>
              </a:rPr>
              <a:t>Ultralytics</a:t>
            </a:r>
            <a:r>
              <a:rPr lang="en-US" dirty="0">
                <a:latin typeface="Times New Roman" panose="02020603050405020304" pitchFamily="18" charset="0"/>
                <a:cs typeface="Times New Roman" panose="02020603050405020304" pitchFamily="18" charset="0"/>
              </a:rPr>
              <a:t>) is used for object detection. OpenCV is used for image processing and displaying results. VS Code is used as the development environment.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4969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BB45DF-E705-6067-EF0D-6FB2F229E9EF}"/>
              </a:ext>
            </a:extLst>
          </p:cNvPr>
          <p:cNvSpPr txBox="1"/>
          <p:nvPr/>
        </p:nvSpPr>
        <p:spPr>
          <a:xfrm>
            <a:off x="1170039" y="501445"/>
            <a:ext cx="5948516" cy="584775"/>
          </a:xfrm>
          <a:prstGeom prst="rect">
            <a:avLst/>
          </a:prstGeom>
          <a:noFill/>
        </p:spPr>
        <p:txBody>
          <a:bodyPr wrap="square" rtlCol="0">
            <a:spAutoFit/>
          </a:bodyPr>
          <a:lstStyle/>
          <a:p>
            <a:r>
              <a:rPr lang="en-IN" sz="3200" b="1" dirty="0"/>
              <a:t>Design </a:t>
            </a:r>
            <a:r>
              <a:rPr lang="en-IN" sz="3200" b="1" dirty="0">
                <a:latin typeface="Times New Roman" panose="02020603050405020304" pitchFamily="18" charset="0"/>
                <a:cs typeface="Times New Roman" panose="02020603050405020304" pitchFamily="18" charset="0"/>
              </a:rPr>
              <a:t>Strategy</a:t>
            </a:r>
          </a:p>
        </p:txBody>
      </p:sp>
      <p:pic>
        <p:nvPicPr>
          <p:cNvPr id="5" name="Picture 4">
            <a:extLst>
              <a:ext uri="{FF2B5EF4-FFF2-40B4-BE49-F238E27FC236}">
                <a16:creationId xmlns:a16="http://schemas.microsoft.com/office/drawing/2014/main" id="{F23E0AE9-1DD4-88AB-9792-D9D25FD434ED}"/>
              </a:ext>
            </a:extLst>
          </p:cNvPr>
          <p:cNvPicPr>
            <a:picLocks noChangeAspect="1"/>
          </p:cNvPicPr>
          <p:nvPr/>
        </p:nvPicPr>
        <p:blipFill>
          <a:blip r:embed="rId2"/>
          <a:srcRect t="10849" b="-1"/>
          <a:stretch>
            <a:fillRect/>
          </a:stretch>
        </p:blipFill>
        <p:spPr>
          <a:xfrm>
            <a:off x="1887793" y="1445342"/>
            <a:ext cx="8937523" cy="4444182"/>
          </a:xfrm>
          <a:prstGeom prst="rect">
            <a:avLst/>
          </a:prstGeom>
        </p:spPr>
      </p:pic>
    </p:spTree>
    <p:extLst>
      <p:ext uri="{BB962C8B-B14F-4D97-AF65-F5344CB8AC3E}">
        <p14:creationId xmlns:p14="http://schemas.microsoft.com/office/powerpoint/2010/main" val="320733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EA6973-0CE1-F067-EFE3-94C91EE756E8}"/>
              </a:ext>
            </a:extLst>
          </p:cNvPr>
          <p:cNvSpPr txBox="1"/>
          <p:nvPr/>
        </p:nvSpPr>
        <p:spPr>
          <a:xfrm>
            <a:off x="1130709" y="423250"/>
            <a:ext cx="5997678"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Implementation</a:t>
            </a:r>
          </a:p>
        </p:txBody>
      </p:sp>
      <p:sp>
        <p:nvSpPr>
          <p:cNvPr id="3" name="TextBox 2">
            <a:extLst>
              <a:ext uri="{FF2B5EF4-FFF2-40B4-BE49-F238E27FC236}">
                <a16:creationId xmlns:a16="http://schemas.microsoft.com/office/drawing/2014/main" id="{FEFF7BCD-BF44-F2D1-D79E-10C6939CA77F}"/>
              </a:ext>
            </a:extLst>
          </p:cNvPr>
          <p:cNvSpPr txBox="1"/>
          <p:nvPr/>
        </p:nvSpPr>
        <p:spPr>
          <a:xfrm>
            <a:off x="1130709" y="1238865"/>
            <a:ext cx="9930582" cy="5355312"/>
          </a:xfrm>
          <a:prstGeom prst="rect">
            <a:avLst/>
          </a:prstGeom>
          <a:noFill/>
        </p:spPr>
        <p:txBody>
          <a:bodyPr wrap="square" rtlCol="0">
            <a:spAutoFit/>
          </a:bodyPr>
          <a:lstStyle/>
          <a:p>
            <a:pPr marL="342900" indent="-342900">
              <a:buAutoNum type="arabicPeriod"/>
            </a:pPr>
            <a:r>
              <a:rPr lang="en-US" b="1" dirty="0">
                <a:latin typeface="Times New Roman" panose="02020603050405020304" pitchFamily="18" charset="0"/>
                <a:cs typeface="Times New Roman" panose="02020603050405020304" pitchFamily="18" charset="0"/>
              </a:rPr>
              <a:t>Input Acquisition:</a:t>
            </a:r>
          </a:p>
          <a:p>
            <a:r>
              <a:rPr lang="en-US" dirty="0">
                <a:latin typeface="Times New Roman" panose="02020603050405020304" pitchFamily="18" charset="0"/>
                <a:cs typeface="Times New Roman" panose="02020603050405020304" pitchFamily="18" charset="0"/>
              </a:rPr>
              <a:t>The system receives a disaster image as input from the user.</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 Image Processing: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input image is loaded and prepared for analysis.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3. Model Initialization: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YOLO model is loaded for object detection.</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4. Object Detection: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image is passed to the YOLO model to detect objects such as people, boats, etc.</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5. Bounding Box Generation: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Bounding boxes with labels and confidence scores are drawn around detected objects.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6. Survivor Detection: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Objects labeled as "person" are identified and counted as survivors.</a:t>
            </a: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5071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0CCE58-F52F-7742-6F2B-E0E176B3D712}"/>
              </a:ext>
            </a:extLst>
          </p:cNvPr>
          <p:cNvSpPr txBox="1"/>
          <p:nvPr/>
        </p:nvSpPr>
        <p:spPr>
          <a:xfrm>
            <a:off x="968477" y="963562"/>
            <a:ext cx="10255045" cy="4247317"/>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7. Data Collection: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All detected object labels are stored for further analysis.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8. Disaster Analysis: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system applies rule-based logic:</a:t>
            </a:r>
          </a:p>
          <a:p>
            <a:r>
              <a:rPr lang="en-US" dirty="0">
                <a:latin typeface="Times New Roman" panose="02020603050405020304" pitchFamily="18" charset="0"/>
                <a:cs typeface="Times New Roman" panose="02020603050405020304" pitchFamily="18" charset="0"/>
              </a:rPr>
              <a:t>Boat detected → Flood</a:t>
            </a:r>
          </a:p>
          <a:p>
            <a:r>
              <a:rPr lang="en-US" dirty="0">
                <a:latin typeface="Times New Roman" panose="02020603050405020304" pitchFamily="18" charset="0"/>
                <a:cs typeface="Times New Roman" panose="02020603050405020304" pitchFamily="18" charset="0"/>
              </a:rPr>
              <a:t>Fire detected → Fire</a:t>
            </a:r>
          </a:p>
          <a:p>
            <a:r>
              <a:rPr lang="en-US" dirty="0">
                <a:latin typeface="Times New Roman" panose="02020603050405020304" pitchFamily="18" charset="0"/>
                <a:cs typeface="Times New Roman" panose="02020603050405020304" pitchFamily="18" charset="0"/>
              </a:rPr>
              <a:t>Multiple people → Rescue/Flood scenario</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9. Result Generation: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system determines the disaster type and total number of survivors.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10. Output Display: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final output is shown with annotated image, disaster type, and survivor count.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4902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979BF6-6796-1939-2CB3-F4A05609AC06}"/>
              </a:ext>
            </a:extLst>
          </p:cNvPr>
          <p:cNvSpPr txBox="1"/>
          <p:nvPr/>
        </p:nvSpPr>
        <p:spPr>
          <a:xfrm>
            <a:off x="1155290" y="206478"/>
            <a:ext cx="4906296"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Result</a:t>
            </a:r>
          </a:p>
        </p:txBody>
      </p:sp>
      <p:sp>
        <p:nvSpPr>
          <p:cNvPr id="3" name="TextBox 2">
            <a:extLst>
              <a:ext uri="{FF2B5EF4-FFF2-40B4-BE49-F238E27FC236}">
                <a16:creationId xmlns:a16="http://schemas.microsoft.com/office/drawing/2014/main" id="{4C1339E0-0613-AA1A-A1B0-8C7ED48F2B39}"/>
              </a:ext>
            </a:extLst>
          </p:cNvPr>
          <p:cNvSpPr txBox="1"/>
          <p:nvPr/>
        </p:nvSpPr>
        <p:spPr>
          <a:xfrm>
            <a:off x="1155290" y="953729"/>
            <a:ext cx="9684774" cy="1754326"/>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developed Disaster Search Agent successfully analyzed the input disaster image and detected multiple objects using the YOLO model. It accurately identified people in the image and counted a total of 7 survivors. The system also detected a boat, which helped in identifying the disaster as a flood situation. The final output included an annotated image with bounding boxes around detected objects along with the number of survivors and the predicted disaster type. Overall, the system provided fast and effective results even in a complex disaster environment.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A155D14-83ED-74CE-C287-A8B6B627C9CA}"/>
              </a:ext>
            </a:extLst>
          </p:cNvPr>
          <p:cNvPicPr>
            <a:picLocks noChangeAspect="1"/>
          </p:cNvPicPr>
          <p:nvPr/>
        </p:nvPicPr>
        <p:blipFill>
          <a:blip r:embed="rId2"/>
          <a:stretch>
            <a:fillRect/>
          </a:stretch>
        </p:blipFill>
        <p:spPr>
          <a:xfrm>
            <a:off x="1263445" y="2801705"/>
            <a:ext cx="5761703" cy="3347786"/>
          </a:xfrm>
          <a:prstGeom prst="rect">
            <a:avLst/>
          </a:prstGeom>
        </p:spPr>
      </p:pic>
      <p:sp>
        <p:nvSpPr>
          <p:cNvPr id="6" name="TextBox 5">
            <a:extLst>
              <a:ext uri="{FF2B5EF4-FFF2-40B4-BE49-F238E27FC236}">
                <a16:creationId xmlns:a16="http://schemas.microsoft.com/office/drawing/2014/main" id="{121065E9-A9CE-9485-126E-9062E49FCED0}"/>
              </a:ext>
            </a:extLst>
          </p:cNvPr>
          <p:cNvSpPr txBox="1"/>
          <p:nvPr/>
        </p:nvSpPr>
        <p:spPr>
          <a:xfrm>
            <a:off x="1229032" y="6243141"/>
            <a:ext cx="9094839" cy="369332"/>
          </a:xfrm>
          <a:prstGeom prst="rect">
            <a:avLst/>
          </a:prstGeom>
          <a:noFill/>
        </p:spPr>
        <p:txBody>
          <a:bodyPr wrap="square" rtlCol="0">
            <a:spAutoFit/>
          </a:bodyPr>
          <a:lstStyle/>
          <a:p>
            <a:r>
              <a:rPr lang="en-IN" dirty="0"/>
              <a:t>Figure: Input image</a:t>
            </a:r>
          </a:p>
        </p:txBody>
      </p:sp>
    </p:spTree>
    <p:extLst>
      <p:ext uri="{BB962C8B-B14F-4D97-AF65-F5344CB8AC3E}">
        <p14:creationId xmlns:p14="http://schemas.microsoft.com/office/powerpoint/2010/main" val="3391173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E72C76-3E12-9041-A16A-B9338FC84797}"/>
              </a:ext>
            </a:extLst>
          </p:cNvPr>
          <p:cNvPicPr>
            <a:picLocks noChangeAspect="1"/>
          </p:cNvPicPr>
          <p:nvPr/>
        </p:nvPicPr>
        <p:blipFill>
          <a:blip r:embed="rId2"/>
          <a:stretch>
            <a:fillRect/>
          </a:stretch>
        </p:blipFill>
        <p:spPr>
          <a:xfrm>
            <a:off x="1283724" y="217569"/>
            <a:ext cx="5829300" cy="3660028"/>
          </a:xfrm>
          <a:prstGeom prst="rect">
            <a:avLst/>
          </a:prstGeom>
        </p:spPr>
      </p:pic>
      <p:pic>
        <p:nvPicPr>
          <p:cNvPr id="5" name="Picture 4">
            <a:extLst>
              <a:ext uri="{FF2B5EF4-FFF2-40B4-BE49-F238E27FC236}">
                <a16:creationId xmlns:a16="http://schemas.microsoft.com/office/drawing/2014/main" id="{238728C8-478F-EE4E-02B6-9A7F53D5ECA7}"/>
              </a:ext>
            </a:extLst>
          </p:cNvPr>
          <p:cNvPicPr>
            <a:picLocks noChangeAspect="1"/>
          </p:cNvPicPr>
          <p:nvPr/>
        </p:nvPicPr>
        <p:blipFill>
          <a:blip r:embed="rId3"/>
          <a:stretch>
            <a:fillRect/>
          </a:stretch>
        </p:blipFill>
        <p:spPr>
          <a:xfrm>
            <a:off x="1283724" y="4350774"/>
            <a:ext cx="8802328" cy="1762371"/>
          </a:xfrm>
          <a:prstGeom prst="rect">
            <a:avLst/>
          </a:prstGeom>
        </p:spPr>
      </p:pic>
      <p:sp>
        <p:nvSpPr>
          <p:cNvPr id="6" name="TextBox 5">
            <a:extLst>
              <a:ext uri="{FF2B5EF4-FFF2-40B4-BE49-F238E27FC236}">
                <a16:creationId xmlns:a16="http://schemas.microsoft.com/office/drawing/2014/main" id="{63C2D90B-E5DC-CCAF-6700-70CCA4E2F2F2}"/>
              </a:ext>
            </a:extLst>
          </p:cNvPr>
          <p:cNvSpPr txBox="1"/>
          <p:nvPr/>
        </p:nvSpPr>
        <p:spPr>
          <a:xfrm>
            <a:off x="1283724" y="3875465"/>
            <a:ext cx="7122857"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Detection of Survivors and Objects in Scenario</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BAA40F6-2F93-ECC2-36D3-9D2CE3B5DDD2}"/>
              </a:ext>
            </a:extLst>
          </p:cNvPr>
          <p:cNvSpPr txBox="1"/>
          <p:nvPr/>
        </p:nvSpPr>
        <p:spPr>
          <a:xfrm>
            <a:off x="1283724" y="6219122"/>
            <a:ext cx="784061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Final Output Showing Disaster Type and Survivor Count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8137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FDDFFF-27F5-E4D3-7C23-2B2E57CDFB4D}"/>
              </a:ext>
            </a:extLst>
          </p:cNvPr>
          <p:cNvSpPr txBox="1"/>
          <p:nvPr/>
        </p:nvSpPr>
        <p:spPr>
          <a:xfrm>
            <a:off x="953729" y="432619"/>
            <a:ext cx="7226710"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Conclusion </a:t>
            </a:r>
          </a:p>
        </p:txBody>
      </p:sp>
      <p:sp>
        <p:nvSpPr>
          <p:cNvPr id="3" name="TextBox 2">
            <a:extLst>
              <a:ext uri="{FF2B5EF4-FFF2-40B4-BE49-F238E27FC236}">
                <a16:creationId xmlns:a16="http://schemas.microsoft.com/office/drawing/2014/main" id="{EC7BD642-76C7-ECB6-3DBA-5E85ECF9B7D7}"/>
              </a:ext>
            </a:extLst>
          </p:cNvPr>
          <p:cNvSpPr txBox="1"/>
          <p:nvPr/>
        </p:nvSpPr>
        <p:spPr>
          <a:xfrm>
            <a:off x="1061883" y="1553498"/>
            <a:ext cx="9507794" cy="313932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The proposed Disaster Search Agent successfully detects survivors and identifies disaster types using AI and computer vision techniques. The YOLO model enables fast and accurate object detection, making the system effective in </a:t>
            </a: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complex disaster scenes.</a:t>
            </a:r>
          </a:p>
          <a:p>
            <a:endParaRPr lang="en-I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Detects survivors accurately using YOLO</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Identifies disaster type (e.g., flood)</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quick and reliable results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Helps reduce manual effort in rescue operations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5051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44 PP thank you slide ideas | powerpoint background design, background for  powerpoint presentation, presentation backgrounds">
            <a:extLst>
              <a:ext uri="{FF2B5EF4-FFF2-40B4-BE49-F238E27FC236}">
                <a16:creationId xmlns:a16="http://schemas.microsoft.com/office/drawing/2014/main" id="{D7665C78-4071-B7E7-84F7-13A2043A25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3115685"/>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{756800F2-A487-4CB3-936B-862B897302B0}TFc3084226-2d0c-440f-9f46-6b48c7a7f670e6ba4a85-fc4a2881d6b3</Template>
  <TotalTime>32</TotalTime>
  <Words>682</Words>
  <Application>Microsoft Office PowerPoint</Application>
  <PresentationFormat>Widescreen</PresentationFormat>
  <Paragraphs>57</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Franklin Gothic Book</vt:lpstr>
      <vt:lpstr>Times New Roman</vt:lpstr>
      <vt:lpstr>Wingdings</vt:lpstr>
      <vt:lpstr>Crop</vt:lpstr>
      <vt:lpstr>Disaster Search AGENT</vt:lpstr>
      <vt:lpstr>Problem Statement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dthammai@gitam.in</dc:creator>
  <cp:lastModifiedBy>dthammai@gitam.in</cp:lastModifiedBy>
  <cp:revision>1</cp:revision>
  <dcterms:created xsi:type="dcterms:W3CDTF">2026-04-09T07:31:08Z</dcterms:created>
  <dcterms:modified xsi:type="dcterms:W3CDTF">2026-04-09T08:03:55Z</dcterms:modified>
</cp:coreProperties>
</file>